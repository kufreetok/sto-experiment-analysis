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117060-3F8F-4310-B973-92A0AE8E1604}" v="14" dt="2026-06-15T18:35:27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E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E3B"/>
                </a:solidFill>
                <a:latin typeface="Arial"/>
              </a:rPr>
              <a:t>Engagement KPIs — Control vs Treatment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8BAAB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E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Open Rate</c:v>
                </c:pt>
                <c:pt idx="1">
                  <c:v>CTR</c:v>
                </c:pt>
                <c:pt idx="2">
                  <c:v>Eng. 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35.56</c:v>
                </c:pt>
                <c:pt idx="1">
                  <c:v>6.34</c:v>
                </c:pt>
                <c:pt idx="2">
                  <c:v>53.4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28-4D10-A8D5-07B7FE8498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E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Open Rate</c:v>
                </c:pt>
                <c:pt idx="1">
                  <c:v>CTR</c:v>
                </c:pt>
                <c:pt idx="2">
                  <c:v>Eng. 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37.81</c:v>
                </c:pt>
                <c:pt idx="1">
                  <c:v>6.69</c:v>
                </c:pt>
                <c:pt idx="2">
                  <c:v>56.7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28-4D10-A8D5-07B7FE8498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B1BBB-1837-42A2-A6FC-1C7C1E2A8EE8}" type="datetimeFigureOut">
              <a:t>15/06/2026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44E64-62C3-4491-BDA0-D0564C60717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76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context: this is a portfolio case study demonstrating A/B experiment design, causal investigation, and evidence-based decision making. 50,000 leads. Full funnel outcome measurement. The real story is not the engagement lift — it's what happened when the numbers looked too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scene. STO personalises the time an email lands in each lead's inbox based on historical engagement data. The hypothesis: better timing improves open rates and CTR. Better engagement drives more opportunities and revenue. Primary KPIs: Open Rate and CTR. Business KPIs: Opportunities, Pipeline,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design. Groups were balanced at ~25k each. Stratified randomisation ensured industry and region were evenly split. The causal pathway we were testing: does better timing drive engagement, and does engagement drive commercial outcomes? This diagram became important later when we found the model violated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primary KPI results. Open rate improved from 35.56% to 37.81% — a 6.3% lift. CTR from 6.34% to 6.69% — a 5.5% lift. Critically, no audience friction: unsubscribes and complaints were flat. So STO works at the engagement layer. The question was: does that engagement translate to business impact?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pivotal moment. The engagement results were plausible — but when we ran downstream impact, we got ~100% opportunity uplift from a 5.5% CTR lift. That is not commercially credible. A 5% improvement in click-through does not double your pipeline overnight. The right response was to investigate, not to ship a report. This is the most important analytical decision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key findings drove the investigation conclusion. First: non-openers in the treatment group were creating opportunities at elevated rates — that should not happen if STO works through engagement. Second: we found a direct Treatment → Opportunity coefficient in the model, meaning the model itself was the source of the uplift. Third: this is a textbook attribution leakage problem. The model was wrong, not the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was rebuilt from scratch. The corrected version has a single causal chain: Treatment → Engagement → Opportunity. Opportunity probability is now a function of industry baseline propensity and engagement score only. No direct treatment path. This removed the attribution leakage and produced defensible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final, defensible results. Engagement: real improvement confirmed. Opportunities, pipeline, revenue: flat. The corrected model shows STO moved people from unengaged to mildly engaged — but did not shift high-intent buyer behaviour. That is an honest, actionable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recommendation has two parts: what to do, and what not to claim. STO should be deployed — it improves engagement at no extra cost. But it should not be presented to leadership as a revenue driver. The evidence does not support that. This kind of recommendation — honest about limitations, actionable — is what builds long-term analytical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meta-lesson: the most important result of this project was not the engagement lift. It was the identification and correction of an attribution flaw that would have produced a misleading business recommendation. That is the kind of analytical rigour that senior stakeholders and hiring managers want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The engagement uplift is real and STO should be deployed. But the more important story is what this project demonstrates about analytical process: challenging assumptions, following the evidence, correcting the model, and delivering a recommendation the business can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Send-Time Optimisation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8BAAB4"/>
                </a:solidFill>
                <a:latin typeface="Arial"/>
                <a:ea typeface="Arial" pitchFamily="34" charset="-122"/>
                <a:cs typeface="Arial"/>
              </a:rPr>
              <a:t>B2B SaaS  ·  50,000 Leads  ·  Portfolio Case Study  ·  Kufre Etok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420624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01626D"/>
          </a:solidFill>
          <a:ln w="12700">
            <a:solidFill>
              <a:srgbClr val="0162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~50,000 Leads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420624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01626D"/>
          </a:solidFill>
          <a:ln w="12700">
            <a:solidFill>
              <a:srgbClr val="0162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20624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01626D"/>
          </a:solidFill>
          <a:ln w="12700">
            <a:solidFill>
              <a:srgbClr val="0162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4206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Funnel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&amp;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Send-Time Optimisation improve customer engagement — and does that engagement translate into measurable commercial impact?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49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SaaS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&amp; mid-market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148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249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5420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Send-Time Optimisation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Personalised delivery windows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0760" y="2148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01626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249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54203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~50,000 Leads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randomised controlled trial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" y="3703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TRACKED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EE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977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57400" y="397764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EEF6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57400" y="3977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397764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E8F0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94760" y="3977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32120" y="397764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E8F0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32120" y="3977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3977640"/>
            <a:ext cx="1600200" cy="475488"/>
          </a:xfrm>
          <a:prstGeom prst="roundRect">
            <a:avLst>
              <a:gd name="adj" fmla="val 15385"/>
            </a:avLst>
          </a:prstGeom>
          <a:solidFill>
            <a:srgbClr val="E8F0F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3977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9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COMPONENTS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B2B SaaS leads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74904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25,007 leads  ·  Fixed 10am send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374904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24,993 leads  ·  STO applied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374904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Send Hour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880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10:00  ·  Treatment: 11.6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91840"/>
            <a:ext cx="374904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383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by industry, region, size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94760"/>
            <a:ext cx="3749040" cy="0"/>
          </a:xfrm>
          <a:prstGeom prst="line">
            <a:avLst/>
          </a:prstGeom>
          <a:noFill/>
          <a:ln w="6350">
            <a:solidFill>
              <a:srgbClr val="D8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86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97.91%  ·  Treatment 98.02%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0698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PATHWAY (HYPOTHESIS)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141732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0" y="1417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24231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01626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24231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4290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3429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1280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3151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 improved engagement across all primary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35608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35.56%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055114"/>
            <a:ext cx="26974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 (Control)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60066"/>
            <a:ext cx="26974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10am send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435608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37.81%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055114"/>
            <a:ext cx="26974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 (Treatment)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360066"/>
            <a:ext cx="26974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 applied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435608"/>
            <a:ext cx="269748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80760" y="2055114"/>
            <a:ext cx="2697480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RATE LIFT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360066"/>
            <a:ext cx="26974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898648"/>
            <a:ext cx="26974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6.34%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0040" y="3467862"/>
            <a:ext cx="2697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(Control)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751783"/>
            <a:ext cx="269748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10am send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788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898648"/>
            <a:ext cx="26974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6.69%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00400" y="3467862"/>
            <a:ext cx="2697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(Treatment)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751783"/>
            <a:ext cx="269748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 applied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788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2898648"/>
            <a:ext cx="269748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+5.5%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080760" y="3467862"/>
            <a:ext cx="2697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LIFT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751783"/>
            <a:ext cx="269748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 and spam complaints remained stable across both groups.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Downstream Results — A Red Flag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modelling produced commercially implausible results. These numbers demanded scrutiny.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2D151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7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~+100%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Uplift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model result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2D151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7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~+99%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9184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Uplift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model result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2D151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7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~+118%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172200" y="2423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Uplift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model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8503920" cy="1325880"/>
          </a:xfrm>
          <a:prstGeom prst="roundRect">
            <a:avLst>
              <a:gd name="adj" fmla="val 5517"/>
            </a:avLst>
          </a:prstGeom>
          <a:solidFill>
            <a:srgbClr val="1E101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7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NUMBERS WERE CHALLENGED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CTR improvement of 5.5% cannot plausibly produce a 100% opportunity uplift. These results suggested a structural flaw in the model rather than genuine commercial impact. Accepting them at face value would have been an analytical failure.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Investigation — Finding the Attribution Flaw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investigation into the causal structure of the opportunity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566928" cy="1051560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89888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481328"/>
            <a:ext cx="7699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Affected Non-Openers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801368"/>
            <a:ext cx="7699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uplift persisted even among leads who never opened the email. If STO drove conversions through engagement, non-openers should show no effect.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51176"/>
            <a:ext cx="8503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51176"/>
            <a:ext cx="566928" cy="1051560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551176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87552" y="2642616"/>
            <a:ext cx="7699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Path Detected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2962656"/>
            <a:ext cx="7699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contained a direct Treatment → Opportunity path, bypassing engagement entirely. Treatment assignment alone was inflating opportunity creation.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712464"/>
            <a:ext cx="8503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12464"/>
            <a:ext cx="566928" cy="1051560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712464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7552" y="3803904"/>
            <a:ext cx="7699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 Leakage Confirmed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4123944"/>
            <a:ext cx="7699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downstream business metrics were a model artefact, not a real signal. STO was being credited for conversions it could not have caused.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Redesign — Restoring Causal Integrity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model was rebuilt to enforce the correct causal pathway.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18080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·  FLAWED 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3A101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Assignment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624328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3A101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24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37413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3A101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741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path bypasses engagement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B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inflates all business metrics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32588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·  CORRECTED 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18745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1626D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Assignment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6360" y="2624328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1626D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624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127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66360" y="337413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01626D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3741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794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mediates all commercial impact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treatment effect correctly isolated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265176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 — After Model Correction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686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68680"/>
          <a:ext cx="3246120" cy="3200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35.56%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A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£4.47M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£4.19M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A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£1.07M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65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£0.91M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AA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25196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2519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improved materially.  Commercial outcomes showed no measurable uplift after causal correction.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869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STO as a standard low-cost engagement optimisation.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position STO as a revenue-growth initiative based on current evidence.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234086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2633472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gains are real and require no additional investment. STO is already built — roll it 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21284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A2E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3752" y="234086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OVERSTATE 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633472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and revenue results are within noise. There is no credible evidence of commercial uplift.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63016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01626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375818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4050792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experiments should target interventions designed to shift high-intent buyer behaviour.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363016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A7A5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375818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CREDIBILITY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4050792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conservative, evidence-based recommendation builds more stakeholder trust than an overstated claim.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869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analytical principles demonstrated by this project.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46304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716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causal structure before reporting impact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92040" y="13716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is not the same as commercial credibility. Always ask: does the mechanism make sense?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002536"/>
            <a:ext cx="8503920" cy="0"/>
          </a:xfrm>
          <a:prstGeom prst="line">
            <a:avLst/>
          </a:prstGeom>
          <a:noFill/>
          <a:ln w="6350">
            <a:solidFill>
              <a:srgbClr val="D0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12264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2F7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221992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305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Implausible results are a signal, not a success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21305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5% CTR lift producing 100% pipeline uplift should trigger investigation — not celebration.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8503920" cy="0"/>
          </a:xfrm>
          <a:prstGeom prst="line">
            <a:avLst/>
          </a:prstGeom>
          <a:noFill/>
          <a:ln w="6350">
            <a:solidFill>
              <a:srgbClr val="D0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71216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980944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88950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 matters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8895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should cause conversion. If the model allows treatment to cause conversion directly, it is flawed.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520440"/>
            <a:ext cx="8503920" cy="0"/>
          </a:xfrm>
          <a:prstGeom prst="line">
            <a:avLst/>
          </a:prstGeom>
          <a:noFill/>
          <a:ln w="6350">
            <a:solidFill>
              <a:srgbClr val="D0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630168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2F7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73989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6484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analysis builds analytical credibility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6484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Correcting an overstated result and presenting a conservative recommendation demonstrates integrity to stakeholders.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279392"/>
            <a:ext cx="8503920" cy="0"/>
          </a:xfrm>
          <a:prstGeom prst="line">
            <a:avLst/>
          </a:prstGeom>
          <a:noFill/>
          <a:ln w="6350">
            <a:solidFill>
              <a:srgbClr val="D0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389120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4498848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4074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optimisations still have value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92040" y="440740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 improves engagement with no incremental investment. Compound gains over time are real.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valuable outcome of this project was not the engagement lift. It was the decision to challenge a commercially implausible result.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176272"/>
            <a:ext cx="5486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3774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225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leakage identified and corrected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85292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9806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model rebuilt from first principles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2841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73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grounded in defensible evidence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490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trust preserved through analytical integrity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6572"/>
                </a:solidFill>
                <a:latin typeface="Arial"/>
                <a:ea typeface="Arial" pitchFamily="34" charset="-122"/>
                <a:cs typeface="Arial"/>
              </a:rPr>
              <a:t>Portfolio Case Study  ·  Kufre Etok  ·  Senior Data Analyst</a:t>
            </a:r>
            <a:endParaRPr lang="en-US"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Send-Time Optimisation Experiment Analysis</dc:title>
  <dc:subject>PptxGenJS Presentation</dc:subject>
  <dc:creator>James Kufre Etok</dc:creator>
  <cp:lastModifiedBy>James Kufre Etok</cp:lastModifiedBy>
  <cp:revision>15</cp:revision>
  <dcterms:created xsi:type="dcterms:W3CDTF">2026-06-15T18:29:35Z</dcterms:created>
  <dcterms:modified xsi:type="dcterms:W3CDTF">2026-06-15T18:35:59Z</dcterms:modified>
</cp:coreProperties>
</file>